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4630400" cy="8229600"/>
  <p:notesSz cx="8229600" cy="14630400"/>
  <p:embeddedFontLst>
    <p:embeddedFont>
      <p:font typeface="Sora Light" panose="020B0604020202020204" charset="0"/>
      <p:regular r:id="rId11"/>
    </p:embeddedFont>
    <p:embeddedFont>
      <p:font typeface="Sora Semi Bold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1" userDrawn="1">
          <p15:clr>
            <a:srgbClr val="A4A3A4"/>
          </p15:clr>
        </p15:guide>
        <p15:guide id="2" pos="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016" y="830"/>
      </p:cViewPr>
      <p:guideLst>
        <p:guide orient="horz" pos="551"/>
        <p:guide pos="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9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3948B4-449C-2F22-91FE-92C19D5EB81D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758308" y="2771061"/>
            <a:ext cx="13491091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Разработка приложения для визуализации алгоритмов сортировки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62000" y="4440935"/>
            <a:ext cx="13113782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Курсовой проект</a:t>
            </a:r>
            <a:endParaRPr lang="ru-RU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КП.09.02.07.П-40.26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636860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Торжокский политехнический колледж, 202</a:t>
            </a:r>
            <a:r>
              <a:rPr lang="ru-RU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08E51-A9AA-6391-97D3-FE0CD0E610A2}"/>
              </a:ext>
            </a:extLst>
          </p:cNvPr>
          <p:cNvSpPr txBox="1"/>
          <p:nvPr/>
        </p:nvSpPr>
        <p:spPr>
          <a:xfrm>
            <a:off x="647700" y="5364645"/>
            <a:ext cx="7615236" cy="75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Выполнен студентом: Мельников Ю. А</a:t>
            </a:r>
          </a:p>
          <a:p>
            <a:pPr>
              <a:lnSpc>
                <a:spcPts val="2700"/>
              </a:lnSpc>
            </a:pPr>
            <a:r>
              <a:rPr lang="ru-RU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Руководитель: Серебряк Е.И.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5078AA-6B23-5338-E6B5-48E3F641D928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58307" y="323750"/>
            <a:ext cx="808577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Актуальность и цель проекта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58308" y="179279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Актуальность</a:t>
            </a:r>
            <a:endParaRPr lang="en-US" sz="2200" b="1" dirty="0"/>
          </a:p>
        </p:txBody>
      </p:sp>
      <p:sp>
        <p:nvSpPr>
          <p:cNvPr id="5" name="Text 2"/>
          <p:cNvSpPr/>
          <p:nvPr/>
        </p:nvSpPr>
        <p:spPr>
          <a:xfrm>
            <a:off x="758308" y="2149034"/>
            <a:ext cx="13479126" cy="111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 современном учебном процессе существует потребность в наглядных инструментах для демонстрации работы алгоритмов сортировки. Большинство доступных решений представляют собой веб-приложения с ограниченным функционалом.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8307" y="35102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Цель проекта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758307" y="3863884"/>
            <a:ext cx="13479125" cy="1415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Разработка оконного приложения на C# с использованием технологии WinForms для визуализации и анимации алгоритмов сортировки в офлайн-режиме.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137F18-1CEB-44BA-3935-FBA4A578B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4419600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EA6EC2-16DB-1127-A6AE-D2088B3600F7}"/>
              </a:ext>
            </a:extLst>
          </p:cNvPr>
          <p:cNvSpPr/>
          <p:nvPr/>
        </p:nvSpPr>
        <p:spPr>
          <a:xfrm>
            <a:off x="-344905" y="-102043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50570" y="317779"/>
            <a:ext cx="5644039" cy="705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Задачи проекта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0570" y="1729145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0570" y="2063115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50570" y="2231231"/>
            <a:ext cx="3908822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Анализ предметной области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0570" y="2711172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Исследование существующих решений и определение требований к системе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21285" y="1729145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1285" y="2063115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21285" y="2231231"/>
            <a:ext cx="294667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Техническое задание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1285" y="2711172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Разработка документации с описанием функционала и спецификаций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0570" y="3767018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0570" y="4100989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50570" y="4269105"/>
            <a:ext cx="4158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Проектирование архитектуры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0570" y="4749046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Создание модульной структуры приложения с разделением на компоненты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21285" y="3767018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21285" y="4100989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421285" y="4269105"/>
            <a:ext cx="3324225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Реализация алгоритмов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1285" y="4749046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Разработка библиотеки алгоритмов сортировки с возможностью расширения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0570" y="5804892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0570" y="6138863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50570" y="6306979"/>
            <a:ext cx="306014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Модуль визуализации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570" y="6786920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Создание системы анимации и отображения процесса сортировки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21285" y="5804892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21285" y="6138863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421285" y="6306979"/>
            <a:ext cx="420338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Тестирование и документация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1285" y="6786920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Проверка функциональности и составление технической документации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4C9BD0-83E4-F611-A85C-4675F45A4FCF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761319" y="319437"/>
            <a:ext cx="67760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Архитектура приложения</a:t>
            </a:r>
            <a:endParaRPr lang="en-US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DC1A2D-792B-6D7F-4837-AAA1A6D7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1032145"/>
            <a:ext cx="9144000" cy="6887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F448B5A-0D48-6A64-4AD9-92504629EBCB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62000" y="522218"/>
            <a:ext cx="8761657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Реализованные алгоритмы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62000" y="1014370"/>
            <a:ext cx="10484525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Приложение включает шесть основных алгоритмов сортировки с различной вычислительной сложностью.</a:t>
            </a:r>
            <a:endParaRPr lang="en-US" sz="2000" dirty="0"/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2B4D0F28-78F3-37B4-0639-045BD7F559F9}"/>
              </a:ext>
            </a:extLst>
          </p:cNvPr>
          <p:cNvGrpSpPr/>
          <p:nvPr/>
        </p:nvGrpSpPr>
        <p:grpSpPr>
          <a:xfrm>
            <a:off x="762000" y="1324813"/>
            <a:ext cx="6207960" cy="1577818"/>
            <a:chOff x="924210" y="1469168"/>
            <a:chExt cx="5194221" cy="1320165"/>
          </a:xfrm>
        </p:grpSpPr>
        <p:sp>
          <p:nvSpPr>
            <p:cNvPr id="4" name="Shape 2"/>
            <p:cNvSpPr/>
            <p:nvPr/>
          </p:nvSpPr>
          <p:spPr>
            <a:xfrm>
              <a:off x="924210" y="1469168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Shape 3"/>
            <p:cNvSpPr/>
            <p:nvPr/>
          </p:nvSpPr>
          <p:spPr>
            <a:xfrm>
              <a:off x="1076134" y="1621092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95196" y="1740154"/>
              <a:ext cx="194786" cy="194786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970891" y="2168904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Bubble Sort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0891" y="2446141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Пузырьковая сортировка — простейший алгоритм с O(n²)</a:t>
            </a:r>
            <a:endParaRPr lang="en-US" sz="1400" dirty="0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29ECB45-5A6C-0A06-8984-108EB28E9770}"/>
              </a:ext>
            </a:extLst>
          </p:cNvPr>
          <p:cNvGrpSpPr/>
          <p:nvPr/>
        </p:nvGrpSpPr>
        <p:grpSpPr>
          <a:xfrm>
            <a:off x="7175623" y="1325831"/>
            <a:ext cx="6206400" cy="1576800"/>
            <a:chOff x="7363182" y="2226588"/>
            <a:chExt cx="5194221" cy="1320165"/>
          </a:xfrm>
        </p:grpSpPr>
        <p:sp>
          <p:nvSpPr>
            <p:cNvPr id="9" name="Shape 6"/>
            <p:cNvSpPr/>
            <p:nvPr/>
          </p:nvSpPr>
          <p:spPr>
            <a:xfrm>
              <a:off x="7363182" y="2226588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Shape 7"/>
            <p:cNvSpPr/>
            <p:nvPr/>
          </p:nvSpPr>
          <p:spPr>
            <a:xfrm>
              <a:off x="7515106" y="2378512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34168" y="2497574"/>
              <a:ext cx="194786" cy="194786"/>
            </a:xfrm>
            <a:prstGeom prst="rect">
              <a:avLst/>
            </a:prstGeom>
          </p:spPr>
        </p:pic>
      </p:grpSp>
      <p:sp>
        <p:nvSpPr>
          <p:cNvPr id="12" name="Text 8"/>
          <p:cNvSpPr/>
          <p:nvPr/>
        </p:nvSpPr>
        <p:spPr>
          <a:xfrm>
            <a:off x="7357152" y="2163698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Selection Sort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57152" y="2450160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Сортировка выбором — находит минимум на каждой итерации</a:t>
            </a:r>
            <a:endParaRPr lang="en-US" sz="1400" dirty="0"/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41E0EDF7-32D2-CA46-7009-4634937A03F4}"/>
              </a:ext>
            </a:extLst>
          </p:cNvPr>
          <p:cNvGrpSpPr/>
          <p:nvPr/>
        </p:nvGrpSpPr>
        <p:grpSpPr>
          <a:xfrm>
            <a:off x="763560" y="3031525"/>
            <a:ext cx="6206400" cy="1576800"/>
            <a:chOff x="2072878" y="3642836"/>
            <a:chExt cx="5194221" cy="1320165"/>
          </a:xfrm>
        </p:grpSpPr>
        <p:sp>
          <p:nvSpPr>
            <p:cNvPr id="14" name="Shape 10"/>
            <p:cNvSpPr/>
            <p:nvPr/>
          </p:nvSpPr>
          <p:spPr>
            <a:xfrm>
              <a:off x="2072878" y="3642836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Shape 11"/>
            <p:cNvSpPr/>
            <p:nvPr/>
          </p:nvSpPr>
          <p:spPr>
            <a:xfrm>
              <a:off x="2224802" y="3794760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43864" y="3913823"/>
              <a:ext cx="194786" cy="194786"/>
            </a:xfrm>
            <a:prstGeom prst="rect">
              <a:avLst/>
            </a:prstGeom>
          </p:spPr>
        </p:pic>
      </p:grpSp>
      <p:sp>
        <p:nvSpPr>
          <p:cNvPr id="17" name="Text 12"/>
          <p:cNvSpPr/>
          <p:nvPr/>
        </p:nvSpPr>
        <p:spPr>
          <a:xfrm>
            <a:off x="945089" y="3871051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Insertion Sort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45089" y="4151196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Сортировка вставками — эффективна для малых массивов</a:t>
            </a:r>
            <a:endParaRPr lang="en-US" sz="1400" dirty="0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BB38E49E-5B6E-7A2E-A46C-0FD233DF3D4A}"/>
              </a:ext>
            </a:extLst>
          </p:cNvPr>
          <p:cNvGrpSpPr/>
          <p:nvPr/>
        </p:nvGrpSpPr>
        <p:grpSpPr>
          <a:xfrm>
            <a:off x="7175623" y="3027352"/>
            <a:ext cx="6206400" cy="1576800"/>
            <a:chOff x="7363182" y="3642836"/>
            <a:chExt cx="5194221" cy="1320165"/>
          </a:xfrm>
        </p:grpSpPr>
        <p:sp>
          <p:nvSpPr>
            <p:cNvPr id="19" name="Shape 14"/>
            <p:cNvSpPr/>
            <p:nvPr/>
          </p:nvSpPr>
          <p:spPr>
            <a:xfrm>
              <a:off x="7363182" y="3642836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Shape 15"/>
            <p:cNvSpPr/>
            <p:nvPr/>
          </p:nvSpPr>
          <p:spPr>
            <a:xfrm>
              <a:off x="7515106" y="3794760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4168" y="3913823"/>
              <a:ext cx="194786" cy="194786"/>
            </a:xfrm>
            <a:prstGeom prst="rect">
              <a:avLst/>
            </a:prstGeom>
          </p:spPr>
        </p:pic>
      </p:grpSp>
      <p:sp>
        <p:nvSpPr>
          <p:cNvPr id="22" name="Text 16"/>
          <p:cNvSpPr/>
          <p:nvPr/>
        </p:nvSpPr>
        <p:spPr>
          <a:xfrm>
            <a:off x="7352981" y="3875533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Quick Sort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352981" y="4155655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Быстрая сортировка — рекурсивное разбиение с O(n log n)</a:t>
            </a:r>
            <a:endParaRPr lang="en-US" sz="1400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24EEB629-A459-21D6-2AAF-A30CFC396CBC}"/>
              </a:ext>
            </a:extLst>
          </p:cNvPr>
          <p:cNvGrpSpPr/>
          <p:nvPr/>
        </p:nvGrpSpPr>
        <p:grpSpPr>
          <a:xfrm>
            <a:off x="763560" y="4731207"/>
            <a:ext cx="6206400" cy="1576800"/>
            <a:chOff x="2072878" y="5059085"/>
            <a:chExt cx="5194221" cy="1320165"/>
          </a:xfrm>
        </p:grpSpPr>
        <p:sp>
          <p:nvSpPr>
            <p:cNvPr id="24" name="Shape 18"/>
            <p:cNvSpPr/>
            <p:nvPr/>
          </p:nvSpPr>
          <p:spPr>
            <a:xfrm>
              <a:off x="2072878" y="5059085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Shape 19"/>
            <p:cNvSpPr/>
            <p:nvPr/>
          </p:nvSpPr>
          <p:spPr>
            <a:xfrm>
              <a:off x="2224802" y="5211008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43864" y="5330071"/>
              <a:ext cx="194786" cy="194786"/>
            </a:xfrm>
            <a:prstGeom prst="rect">
              <a:avLst/>
            </a:prstGeom>
          </p:spPr>
        </p:pic>
      </p:grpSp>
      <p:sp>
        <p:nvSpPr>
          <p:cNvPr id="27" name="Text 20"/>
          <p:cNvSpPr/>
          <p:nvPr/>
        </p:nvSpPr>
        <p:spPr>
          <a:xfrm>
            <a:off x="967663" y="5570791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Merge Sort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945089" y="5852859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Сортировка слиянием — 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устойчивая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с гарантированной сложностью</a:t>
            </a:r>
            <a:endParaRPr lang="en-US" sz="1400" dirty="0"/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00C4B921-8135-FD20-85C5-D39C92D31BDF}"/>
              </a:ext>
            </a:extLst>
          </p:cNvPr>
          <p:cNvGrpSpPr/>
          <p:nvPr/>
        </p:nvGrpSpPr>
        <p:grpSpPr>
          <a:xfrm>
            <a:off x="7175623" y="4711973"/>
            <a:ext cx="6206400" cy="1576800"/>
            <a:chOff x="7363182" y="5059085"/>
            <a:chExt cx="5194221" cy="1320165"/>
          </a:xfrm>
        </p:grpSpPr>
        <p:sp>
          <p:nvSpPr>
            <p:cNvPr id="29" name="Shape 22"/>
            <p:cNvSpPr/>
            <p:nvPr/>
          </p:nvSpPr>
          <p:spPr>
            <a:xfrm>
              <a:off x="7363182" y="5059085"/>
              <a:ext cx="5194221" cy="1320165"/>
            </a:xfrm>
            <a:prstGeom prst="roundRect">
              <a:avLst>
                <a:gd name="adj" fmla="val 4592"/>
              </a:avLst>
            </a:prstGeom>
            <a:solidFill>
              <a:srgbClr val="F9D2D6"/>
            </a:solidFill>
            <a:ln w="7620">
              <a:solidFill>
                <a:srgbClr val="DFB8B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Shape 23"/>
            <p:cNvSpPr/>
            <p:nvPr/>
          </p:nvSpPr>
          <p:spPr>
            <a:xfrm>
              <a:off x="7515106" y="5211008"/>
              <a:ext cx="433030" cy="433030"/>
            </a:xfrm>
            <a:prstGeom prst="roundRect">
              <a:avLst>
                <a:gd name="adj" fmla="val 21114208"/>
              </a:avLst>
            </a:prstGeom>
            <a:solidFill>
              <a:srgbClr val="DA1B2E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4168" y="5330071"/>
              <a:ext cx="194786" cy="194786"/>
            </a:xfrm>
            <a:prstGeom prst="rect">
              <a:avLst/>
            </a:prstGeom>
          </p:spPr>
        </p:pic>
      </p:grpSp>
      <p:sp>
        <p:nvSpPr>
          <p:cNvPr id="32" name="Text 24"/>
          <p:cNvSpPr/>
          <p:nvPr/>
        </p:nvSpPr>
        <p:spPr>
          <a:xfrm>
            <a:off x="7352980" y="5552847"/>
            <a:ext cx="189928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Heap Sort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7352980" y="5836205"/>
            <a:ext cx="4890373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Пирамидальная сортировка — использует двоичную кучу</a:t>
            </a:r>
            <a:endParaRPr lang="en-US" sz="1400" dirty="0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9744BD04-8E60-F555-F3A4-0BB9975E6D02}"/>
              </a:ext>
            </a:extLst>
          </p:cNvPr>
          <p:cNvGrpSpPr/>
          <p:nvPr/>
        </p:nvGrpSpPr>
        <p:grpSpPr>
          <a:xfrm>
            <a:off x="763560" y="6684740"/>
            <a:ext cx="12618463" cy="483037"/>
            <a:chOff x="2072878" y="6487358"/>
            <a:chExt cx="10484525" cy="483037"/>
          </a:xfrm>
        </p:grpSpPr>
        <p:sp>
          <p:nvSpPr>
            <p:cNvPr id="34" name="Shape 26"/>
            <p:cNvSpPr/>
            <p:nvPr/>
          </p:nvSpPr>
          <p:spPr>
            <a:xfrm>
              <a:off x="2072878" y="6487358"/>
              <a:ext cx="10484525" cy="483037"/>
            </a:xfrm>
            <a:prstGeom prst="roundRect">
              <a:avLst>
                <a:gd name="adj" fmla="val 12551"/>
              </a:avLst>
            </a:prstGeom>
            <a:solidFill>
              <a:srgbClr val="F7BBC1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35" name="Image 6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217182" y="6667500"/>
              <a:ext cx="180380" cy="144304"/>
            </a:xfrm>
            <a:prstGeom prst="rect">
              <a:avLst/>
            </a:prstGeom>
          </p:spPr>
        </p:pic>
      </p:grpSp>
      <p:sp>
        <p:nvSpPr>
          <p:cNvPr id="36" name="Text 27"/>
          <p:cNvSpPr/>
          <p:nvPr/>
        </p:nvSpPr>
        <p:spPr>
          <a:xfrm>
            <a:off x="2345249" y="6832574"/>
            <a:ext cx="9871234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Bogo Sort</a:t>
            </a: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дополнительный алгоритм для демонстрации неэффективных подходов (ожидаемая сложность O(n!))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793439-D3A5-AEF9-3800-172E38D23FBB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62000" y="397884"/>
            <a:ext cx="5741313" cy="60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Интерфейс приложения</a:t>
            </a:r>
            <a:endParaRPr lang="en-US" sz="480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B7283F8D-F6F8-9902-03E5-EC158D7F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54" y="1208167"/>
            <a:ext cx="9688509" cy="64643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22531-CDD3-E756-68FB-8FADC6903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572" y="1503419"/>
            <a:ext cx="4467828" cy="5286930"/>
          </a:xfrm>
          <a:prstGeom prst="rect">
            <a:avLst/>
          </a:prstGeom>
        </p:spPr>
      </p:pic>
      <p:sp>
        <p:nvSpPr>
          <p:cNvPr id="7" name="Text 27">
            <a:extLst>
              <a:ext uri="{FF2B5EF4-FFF2-40B4-BE49-F238E27FC236}">
                <a16:creationId xmlns:a16="http://schemas.microsoft.com/office/drawing/2014/main" id="{266A03EC-5C18-2E55-3E73-879655A74491}"/>
              </a:ext>
            </a:extLst>
          </p:cNvPr>
          <p:cNvSpPr/>
          <p:nvPr/>
        </p:nvSpPr>
        <p:spPr>
          <a:xfrm>
            <a:off x="10162572" y="6983986"/>
            <a:ext cx="4467828" cy="39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ru-RU" dirty="0">
                <a:solidFill>
                  <a:srgbClr val="000000"/>
                </a:solidFill>
                <a:cs typeface="Sora Semi Bold" panose="020B0604020202020204" charset="0"/>
              </a:rPr>
              <a:t>Интерфейс справочника «Что такое </a:t>
            </a:r>
            <a:r>
              <a:rPr lang="en-US" dirty="0">
                <a:solidFill>
                  <a:srgbClr val="000000"/>
                </a:solidFill>
                <a:latin typeface="Sora Semi Bold" panose="020B0604020202020204" charset="0"/>
                <a:cs typeface="Sora Semi Bold" panose="020B0604020202020204" charset="0"/>
              </a:rPr>
              <a:t>O(n)</a:t>
            </a:r>
            <a:r>
              <a:rPr lang="ru-RU" dirty="0">
                <a:solidFill>
                  <a:srgbClr val="000000"/>
                </a:solidFill>
                <a:cs typeface="Sora Semi Bold" panose="020B0604020202020204" charset="0"/>
              </a:rPr>
              <a:t>»</a:t>
            </a:r>
            <a:endParaRPr lang="en-US" dirty="0">
              <a:latin typeface="Sora Semi Bold" panose="020B0604020202020204" charset="0"/>
              <a:cs typeface="Sora Semi Bold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D46AE7-6DEF-9519-A599-5DA5EA30F061}"/>
              </a:ext>
            </a:extLst>
          </p:cNvPr>
          <p:cNvSpPr/>
          <p:nvPr/>
        </p:nvSpPr>
        <p:spPr>
          <a:xfrm>
            <a:off x="-344905" y="-88232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58309" y="320219"/>
            <a:ext cx="716803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Результаты тестирования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65929" y="90279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Приложение успешно прошло тестирование </a:t>
            </a:r>
            <a:r>
              <a:rPr lang="ru-RU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реализованных функций</a:t>
            </a: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200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102EE22E-FF1A-A687-883C-0D0359E2F61F}"/>
              </a:ext>
            </a:extLst>
          </p:cNvPr>
          <p:cNvGrpSpPr/>
          <p:nvPr/>
        </p:nvGrpSpPr>
        <p:grpSpPr>
          <a:xfrm>
            <a:off x="758309" y="1617645"/>
            <a:ext cx="4190762" cy="2165152"/>
            <a:chOff x="758309" y="5686641"/>
            <a:chExt cx="4190762" cy="2165152"/>
          </a:xfrm>
        </p:grpSpPr>
        <p:sp>
          <p:nvSpPr>
            <p:cNvPr id="4" name="Text 2"/>
            <p:cNvSpPr/>
            <p:nvPr/>
          </p:nvSpPr>
          <p:spPr>
            <a:xfrm>
              <a:off x="758309" y="5686641"/>
              <a:ext cx="41907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ru-RU" sz="60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5</a:t>
              </a:r>
              <a:r>
                <a:rPr lang="en-US" sz="60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00</a:t>
              </a:r>
              <a:endParaRPr lang="en-US" sz="6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236345" y="6672240"/>
              <a:ext cx="3234571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8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Максимальный размер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58309" y="7158373"/>
              <a:ext cx="4190762" cy="693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Поддержка массивов </a:t>
              </a:r>
              <a:r>
                <a:rPr lang="en-US" sz="2400" dirty="0" err="1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до</a:t>
              </a: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 </a:t>
              </a:r>
              <a:r>
                <a:rPr lang="ru-RU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5</a:t>
              </a: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00 элементов</a:t>
              </a:r>
              <a:endParaRPr lang="en-US" sz="2400" dirty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E3C5879-81E3-71D3-81E4-207DEA4E3ECA}"/>
              </a:ext>
            </a:extLst>
          </p:cNvPr>
          <p:cNvGrpSpPr/>
          <p:nvPr/>
        </p:nvGrpSpPr>
        <p:grpSpPr>
          <a:xfrm>
            <a:off x="4949071" y="1615500"/>
            <a:ext cx="4190762" cy="2165152"/>
            <a:chOff x="5219819" y="5686641"/>
            <a:chExt cx="4190762" cy="2165152"/>
          </a:xfrm>
        </p:grpSpPr>
        <p:sp>
          <p:nvSpPr>
            <p:cNvPr id="7" name="Text 5"/>
            <p:cNvSpPr/>
            <p:nvPr/>
          </p:nvSpPr>
          <p:spPr>
            <a:xfrm>
              <a:off x="5219819" y="5686641"/>
              <a:ext cx="41907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ru-RU" sz="60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7</a:t>
              </a:r>
              <a:endParaRPr lang="en-US" sz="6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889784" y="6672240"/>
              <a:ext cx="285071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8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Алгоритмов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219819" y="7158373"/>
              <a:ext cx="4190762" cy="693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400" dirty="0" err="1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Реализовано</a:t>
              </a: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 </a:t>
              </a:r>
              <a:r>
                <a:rPr lang="ru-RU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семь</a:t>
              </a: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 основных алгоритмов сортировки</a:t>
              </a:r>
              <a:endParaRPr lang="en-US" sz="24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AFB75D7-CDC3-7E49-A0E3-1E841C0838B2}"/>
              </a:ext>
            </a:extLst>
          </p:cNvPr>
          <p:cNvGrpSpPr/>
          <p:nvPr/>
        </p:nvGrpSpPr>
        <p:grpSpPr>
          <a:xfrm>
            <a:off x="9614182" y="1617645"/>
            <a:ext cx="4198382" cy="2165152"/>
            <a:chOff x="9681329" y="5686641"/>
            <a:chExt cx="4198382" cy="2165152"/>
          </a:xfrm>
        </p:grpSpPr>
        <p:sp>
          <p:nvSpPr>
            <p:cNvPr id="10" name="Text 8"/>
            <p:cNvSpPr/>
            <p:nvPr/>
          </p:nvSpPr>
          <p:spPr>
            <a:xfrm>
              <a:off x="9681329" y="5686641"/>
              <a:ext cx="41907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60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0.01ms</a:t>
              </a:r>
              <a:endParaRPr lang="en-US" sz="6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351294" y="6672240"/>
              <a:ext cx="285071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8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Точность задержки</a:t>
              </a:r>
              <a:endParaRPr lang="en-US" sz="2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681329" y="7158373"/>
              <a:ext cx="4198382" cy="693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Минимальная задержка для управления скоростью</a:t>
              </a:r>
              <a:endParaRPr lang="en-US" sz="2400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9D50452-BCA2-6394-5F2D-52A9174F7A7D}"/>
              </a:ext>
            </a:extLst>
          </p:cNvPr>
          <p:cNvGrpSpPr/>
          <p:nvPr/>
        </p:nvGrpSpPr>
        <p:grpSpPr>
          <a:xfrm>
            <a:off x="4949071" y="4743510"/>
            <a:ext cx="4190762" cy="2165152"/>
            <a:chOff x="758309" y="5686641"/>
            <a:chExt cx="4190762" cy="2165152"/>
          </a:xfrm>
        </p:grpSpPr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C24A3D81-6747-02E0-2C71-D448AA836E90}"/>
                </a:ext>
              </a:extLst>
            </p:cNvPr>
            <p:cNvSpPr/>
            <p:nvPr/>
          </p:nvSpPr>
          <p:spPr>
            <a:xfrm>
              <a:off x="758309" y="5686641"/>
              <a:ext cx="41907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ru-RU" sz="60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3</a:t>
              </a:r>
              <a:endParaRPr lang="en-US" sz="6000" dirty="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DE37B203-65BB-E902-B73E-B708131A5B12}"/>
                </a:ext>
              </a:extLst>
            </p:cNvPr>
            <p:cNvSpPr/>
            <p:nvPr/>
          </p:nvSpPr>
          <p:spPr>
            <a:xfrm>
              <a:off x="1236345" y="6672240"/>
              <a:ext cx="3234571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ru-RU" sz="2800" dirty="0">
                  <a:solidFill>
                    <a:srgbClr val="3B3535"/>
                  </a:solidFill>
                  <a:latin typeface="Sora Semi Bold" pitchFamily="34" charset="0"/>
                  <a:ea typeface="Sora Semi Bold" pitchFamily="34" charset="-122"/>
                  <a:cs typeface="Sora Semi Bold" pitchFamily="34" charset="-120"/>
                </a:rPr>
                <a:t>Кнопки «Справочники»</a:t>
              </a:r>
              <a:endParaRPr lang="en-US" sz="2800" dirty="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C7D619B3-2AED-8B52-7360-621962CC7FE8}"/>
                </a:ext>
              </a:extLst>
            </p:cNvPr>
            <p:cNvSpPr/>
            <p:nvPr/>
          </p:nvSpPr>
          <p:spPr>
            <a:xfrm>
              <a:off x="758309" y="7158373"/>
              <a:ext cx="4190762" cy="693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ru-RU" sz="2400" dirty="0">
                  <a:solidFill>
                    <a:srgbClr val="3B3535"/>
                  </a:solidFill>
                  <a:latin typeface="Sora Light" pitchFamily="34" charset="0"/>
                  <a:ea typeface="Sora Light" pitchFamily="34" charset="-122"/>
                  <a:cs typeface="Sora Light" pitchFamily="34" charset="-120"/>
                </a:rPr>
                <a:t>Легкий доступ к информации по интересующему вопросу</a:t>
              </a:r>
              <a:endParaRPr lang="en-US" sz="2400" dirty="0"/>
            </a:p>
          </p:txBody>
        </p:sp>
      </p:grpSp>
      <p:sp>
        <p:nvSpPr>
          <p:cNvPr id="26" name="Text 27">
            <a:extLst>
              <a:ext uri="{FF2B5EF4-FFF2-40B4-BE49-F238E27FC236}">
                <a16:creationId xmlns:a16="http://schemas.microsoft.com/office/drawing/2014/main" id="{3281C93B-02F5-53A3-20EE-346730CF99D2}"/>
              </a:ext>
            </a:extLst>
          </p:cNvPr>
          <p:cNvSpPr/>
          <p:nvPr/>
        </p:nvSpPr>
        <p:spPr>
          <a:xfrm>
            <a:off x="765929" y="7533146"/>
            <a:ext cx="9871234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ru-RU" sz="1600" dirty="0">
                <a:solidFill>
                  <a:srgbClr val="000000"/>
                </a:solidFill>
                <a:cs typeface="Sora Light" pitchFamily="34" charset="-120"/>
              </a:rPr>
              <a:t>Достойные упоминания: полная </a:t>
            </a:r>
            <a:r>
              <a:rPr lang="ru-RU" sz="1600" dirty="0" err="1">
                <a:solidFill>
                  <a:srgbClr val="000000"/>
                </a:solidFill>
                <a:cs typeface="Sora Light" pitchFamily="34" charset="-120"/>
              </a:rPr>
              <a:t>маштабируемость</a:t>
            </a:r>
            <a:r>
              <a:rPr lang="ru-RU" sz="1600" dirty="0">
                <a:solidFill>
                  <a:srgbClr val="000000"/>
                </a:solidFill>
                <a:cs typeface="Sora Light" pitchFamily="34" charset="-120"/>
              </a:rPr>
              <a:t>, валидация, статистика, управление сортировкой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24732F-888B-E8F3-3979-9B528FDDF116}"/>
              </a:ext>
            </a:extLst>
          </p:cNvPr>
          <p:cNvSpPr/>
          <p:nvPr/>
        </p:nvSpPr>
        <p:spPr>
          <a:xfrm>
            <a:off x="-344905" y="-56147"/>
            <a:ext cx="15223958" cy="8406063"/>
          </a:xfrm>
          <a:prstGeom prst="rect">
            <a:avLst/>
          </a:prstGeom>
          <a:solidFill>
            <a:srgbClr val="D3D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D15462-2D09-EF1E-2A47-4C7ED07B26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"/>
          </a:blip>
          <a:stretch>
            <a:fillRect/>
          </a:stretch>
        </p:blipFill>
        <p:spPr>
          <a:xfrm>
            <a:off x="92467" y="154790"/>
            <a:ext cx="14311707" cy="8720952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A00132-4B05-363A-D823-88DF0E371076}"/>
              </a:ext>
            </a:extLst>
          </p:cNvPr>
          <p:cNvSpPr txBox="1"/>
          <p:nvPr/>
        </p:nvSpPr>
        <p:spPr>
          <a:xfrm flipH="1">
            <a:off x="-27989571" y="5410820"/>
            <a:ext cx="35304769" cy="13280559"/>
          </a:xfrm>
          <a:prstGeom prst="rect">
            <a:avLst/>
          </a:prstGeom>
          <a:solidFill>
            <a:schemeClr val="bg1"/>
          </a:solidFill>
          <a:effectLst>
            <a:glow>
              <a:schemeClr val="accent1">
                <a:alpha val="40000"/>
              </a:schemeClr>
            </a:glow>
            <a:outerShdw blurRad="50800" dist="25400" dir="5400000" algn="ctr" rotWithShape="0">
              <a:srgbClr val="000000"/>
            </a:outerShdw>
          </a:effectLst>
          <a:scene3d>
            <a:camera prst="perspectiveRelaxed"/>
            <a:lightRig rig="threePt" dir="t"/>
          </a:scene3d>
          <a:sp3d prstMaterial="matte">
            <a:bevelT w="0" h="0" prst="angle"/>
            <a:bevelB w="0" h="0"/>
          </a:sp3d>
        </p:spPr>
        <p:txBody>
          <a:bodyPr wrap="square">
            <a:spAutoFit/>
          </a:bodyPr>
          <a:lstStyle/>
          <a:p>
            <a:r>
              <a:rPr lang="ru-RU" sz="85700" dirty="0">
                <a:solidFill>
                  <a:schemeClr val="accent2">
                    <a:lumMod val="75000"/>
                  </a:schemeClr>
                </a:solidFill>
              </a:rPr>
              <a:t>    🥹</a:t>
            </a:r>
          </a:p>
        </p:txBody>
      </p:sp>
      <p:sp>
        <p:nvSpPr>
          <p:cNvPr id="3" name="Text 0"/>
          <p:cNvSpPr/>
          <p:nvPr/>
        </p:nvSpPr>
        <p:spPr>
          <a:xfrm>
            <a:off x="4258491" y="2689383"/>
            <a:ext cx="6113417" cy="28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0"/>
              </a:lnSpc>
              <a:buNone/>
            </a:pPr>
            <a:r>
              <a:rPr lang="en-US" sz="96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Спасибо за внимание!</a:t>
            </a:r>
            <a:endParaRPr lang="en-US" sz="9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47458-6181-6021-5304-5F1AA4BC54B4}"/>
              </a:ext>
            </a:extLst>
          </p:cNvPr>
          <p:cNvSpPr txBox="1"/>
          <p:nvPr/>
        </p:nvSpPr>
        <p:spPr>
          <a:xfrm>
            <a:off x="10305785" y="4864019"/>
            <a:ext cx="2308324" cy="2215991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r>
              <a:rPr lang="ru-RU" sz="13800" dirty="0"/>
              <a:t>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811DB8-09D5-B2CB-C2D7-598D08A3C8B1}"/>
              </a:ext>
            </a:extLst>
          </p:cNvPr>
          <p:cNvSpPr txBox="1"/>
          <p:nvPr/>
        </p:nvSpPr>
        <p:spPr>
          <a:xfrm>
            <a:off x="2016290" y="4864020"/>
            <a:ext cx="769837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800" dirty="0"/>
              <a:t>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328</Words>
  <Application>Microsoft Office PowerPoint</Application>
  <PresentationFormat>Произвольный</PresentationFormat>
  <Paragraphs>75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Sora Semi Bold</vt:lpstr>
      <vt:lpstr>Sora 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Crocky Del</cp:lastModifiedBy>
  <cp:revision>7</cp:revision>
  <dcterms:created xsi:type="dcterms:W3CDTF">2026-03-18T13:11:29Z</dcterms:created>
  <dcterms:modified xsi:type="dcterms:W3CDTF">2026-03-19T18:23:14Z</dcterms:modified>
</cp:coreProperties>
</file>